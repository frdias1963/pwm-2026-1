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71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152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90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96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91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51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42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56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70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13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662609"/>
            <a:ext cx="8229600" cy="2629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6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</a:t>
            </a:r>
            <a:r>
              <a:rPr lang="en-US" sz="6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algn="ctr"/>
            <a:r>
              <a:rPr lang="en-US" sz="6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 Mobile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Flávio Dias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UNICAP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" cy="3200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722907"/>
            <a:ext cx="7772400" cy="4147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14751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endParaRPr lang="en-US" sz="2400" b="1" dirty="0">
              <a:solidFill>
                <a:srgbClr val="014751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r>
              <a:rPr lang="en-US" sz="24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400" dirty="0"/>
          </a:p>
          <a:p>
            <a:b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6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31520" y="997227"/>
            <a:ext cx="4150880" cy="31731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altLang="pt-BR" sz="2600" dirty="0">
                <a:cs typeface="Times New Roman" panose="02020603050405020304" pitchFamily="18" charset="0"/>
              </a:rPr>
              <a:t>Apresentações</a:t>
            </a: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altLang="pt-BR" sz="2600" dirty="0">
                <a:cs typeface="Times New Roman" panose="02020603050405020304" pitchFamily="18" charset="0"/>
              </a:rPr>
              <a:t>Horário</a:t>
            </a: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altLang="pt-BR" sz="2600" dirty="0">
                <a:cs typeface="Times New Roman" panose="02020603050405020304" pitchFamily="18" charset="0"/>
              </a:rPr>
              <a:t>Objetivos</a:t>
            </a: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altLang="pt-BR" sz="2600" dirty="0">
                <a:cs typeface="Times New Roman" panose="02020603050405020304" pitchFamily="18" charset="0"/>
              </a:rPr>
              <a:t>Metodologia de Ensino</a:t>
            </a: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altLang="pt-BR" sz="2600" dirty="0">
                <a:cs typeface="Times New Roman" panose="02020603050405020304" pitchFamily="18" charset="0"/>
              </a:rPr>
              <a:t>Metodologia de Avaliação</a:t>
            </a: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altLang="pt-BR" sz="2600" dirty="0">
                <a:cs typeface="Times New Roman" panose="02020603050405020304" pitchFamily="18" charset="0"/>
              </a:rPr>
              <a:t>Conteúdo Programático</a:t>
            </a: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altLang="pt-BR" sz="2600" dirty="0">
                <a:cs typeface="Times New Roman" panose="02020603050405020304" pitchFamily="18" charset="0"/>
              </a:rPr>
              <a:t>Bibliografia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" cy="3200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622852"/>
            <a:ext cx="7772400" cy="3309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14751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endParaRPr lang="en-US" sz="2400" b="1" dirty="0">
              <a:solidFill>
                <a:srgbClr val="014751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r>
              <a:rPr lang="en-US" sz="2400" b="1" dirty="0" err="1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Quem</a:t>
            </a:r>
            <a:r>
              <a:rPr lang="en-US" sz="24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somos</a:t>
            </a:r>
            <a:r>
              <a:rPr lang="en-US" sz="24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14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UFPE</a:t>
            </a:r>
            <a:endParaRPr lang="en-US" sz="2400" dirty="0"/>
          </a:p>
          <a:p>
            <a:pPr marL="0" indent="0">
              <a:buNone/>
            </a:pPr>
            <a:endParaRPr lang="en-US" sz="16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Especializações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– Instituto de Desenho Instrucional/SP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</a:t>
            </a:r>
            <a:r>
              <a:rPr lang="pt-BR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r>
              <a:rPr lang="pt-BR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Big Data e </a:t>
            </a:r>
            <a:r>
              <a:rPr lang="pt-BR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r>
              <a:rPr lang="pt-BR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Ciência de Dados – Anhanguera/GO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Instrucional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UNOPAR/PR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ESAB/ES</a:t>
            </a:r>
          </a:p>
          <a:p>
            <a:b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Graduação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Internet – FICR/PE</a:t>
            </a:r>
          </a:p>
          <a:p>
            <a:b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UNICAP </a:t>
            </a:r>
          </a:p>
          <a:p>
            <a:pPr marL="0" indent="0">
              <a:buNone/>
            </a:pPr>
            <a:endParaRPr lang="en-US" sz="16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Digitais</a:t>
            </a:r>
            <a:endParaRPr lang="en-US" sz="16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endParaRPr lang="en-US" sz="16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740648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" cy="3200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2643"/>
            <a:ext cx="7772400" cy="3309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14751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r>
              <a:rPr lang="en-US" sz="2400" b="1" dirty="0" err="1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Apresentações</a:t>
            </a:r>
            <a:endParaRPr lang="en-US" sz="2400" dirty="0"/>
          </a:p>
          <a:p>
            <a:pPr lvl="1">
              <a:lnSpc>
                <a:spcPct val="110000"/>
              </a:lnSpc>
            </a:pPr>
            <a:endParaRPr lang="en-US" sz="2400" b="1" dirty="0">
              <a:solidFill>
                <a:srgbClr val="0147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>
              <a:lnSpc>
                <a:spcPct val="110000"/>
              </a:lnSpc>
            </a:pPr>
            <a:endParaRPr lang="en-US" sz="2400" b="1" dirty="0">
              <a:solidFill>
                <a:srgbClr val="0147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altLang="pt-BR" sz="2600" dirty="0">
                <a:cs typeface="Times New Roman" panose="02020603050405020304" pitchFamily="18" charset="0"/>
              </a:rPr>
              <a:t>Nome</a:t>
            </a: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altLang="pt-BR" sz="2600" dirty="0">
                <a:cs typeface="Times New Roman" panose="02020603050405020304" pitchFamily="18" charset="0"/>
              </a:rPr>
              <a:t>Experiência(s) na área de TI</a:t>
            </a: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altLang="pt-BR" sz="2600" dirty="0">
                <a:cs typeface="Times New Roman" panose="02020603050405020304" pitchFamily="18" charset="0"/>
              </a:rPr>
              <a:t>Expectativa(s) com relação a disciplina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2516888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" cy="3200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2643"/>
            <a:ext cx="7772400" cy="3309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14751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r>
              <a:rPr lang="en-US" sz="2400" b="1" dirty="0" err="1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Horário</a:t>
            </a:r>
            <a:endParaRPr lang="en-US" sz="2400" dirty="0"/>
          </a:p>
          <a:p>
            <a:pPr lvl="1">
              <a:lnSpc>
                <a:spcPct val="110000"/>
              </a:lnSpc>
            </a:pPr>
            <a:endParaRPr lang="en-US" sz="2400" b="1" dirty="0">
              <a:solidFill>
                <a:srgbClr val="0147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>
              <a:lnSpc>
                <a:spcPct val="110000"/>
              </a:lnSpc>
            </a:pPr>
            <a:endParaRPr lang="en-US" sz="2400" b="1" dirty="0">
              <a:solidFill>
                <a:srgbClr val="0147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altLang="pt-BR" sz="2600" dirty="0">
                <a:cs typeface="Times New Roman" panose="02020603050405020304" pitchFamily="18" charset="0"/>
              </a:rPr>
              <a:t>3AB – Bloco B – S. 208</a:t>
            </a: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altLang="pt-BR" sz="2600" dirty="0">
                <a:cs typeface="Times New Roman" panose="02020603050405020304" pitchFamily="18" charset="0"/>
              </a:rPr>
              <a:t>6AB – Bloco A – S. 805</a:t>
            </a:r>
            <a:br>
              <a:rPr lang="pt-BR" altLang="pt-BR" sz="2600" b="1" dirty="0">
                <a:cs typeface="Times New Roman" panose="02020603050405020304" pitchFamily="18" charset="0"/>
              </a:rPr>
            </a:br>
            <a:endParaRPr lang="pt-BR" altLang="pt-BR" sz="2600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7209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" cy="3200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675861"/>
            <a:ext cx="7772400" cy="3309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014751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r>
              <a:rPr lang="en-US" sz="2400" b="1" dirty="0" err="1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</a:t>
            </a:r>
            <a:endParaRPr lang="en-US" sz="2400" dirty="0"/>
          </a:p>
          <a:p>
            <a:pPr lvl="1">
              <a:lnSpc>
                <a:spcPct val="110000"/>
              </a:lnSpc>
            </a:pPr>
            <a:endParaRPr lang="en-US" sz="2400" b="1" dirty="0">
              <a:solidFill>
                <a:srgbClr val="0147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/>
              <a:t>Desenvolver o raciocínio lógico aplicado ao desenvolvimento de aplicativos para web e celulares.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/>
              <a:t>Estar apto a implementar sites para Web utilizando HTML, CSS e JS e aplicativos para </a:t>
            </a:r>
            <a:r>
              <a:rPr lang="pt-BR" dirty="0" err="1"/>
              <a:t>Android</a:t>
            </a:r>
            <a:r>
              <a:rPr lang="pt-BR" dirty="0"/>
              <a:t>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/>
              <a:t>Criar documentos web utilizando HTML.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/>
              <a:t>Estilizar documentos web utilizando CSS.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/>
              <a:t>Utilizar JS para adicionar comportamento a sites da Web.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/>
              <a:t>Desenvolver aplicativo </a:t>
            </a:r>
            <a:r>
              <a:rPr lang="pt-BR" dirty="0" err="1"/>
              <a:t>Android</a:t>
            </a:r>
            <a:r>
              <a:rPr lang="pt-BR" dirty="0"/>
              <a:t> nativo.</a:t>
            </a:r>
            <a:br>
              <a:rPr lang="pt-BR" altLang="pt-BR" sz="2600" b="1" dirty="0">
                <a:cs typeface="Times New Roman" panose="02020603050405020304" pitchFamily="18" charset="0"/>
              </a:rPr>
            </a:br>
            <a:endParaRPr lang="pt-BR" altLang="pt-BR" sz="2600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3582135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" cy="3200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85800" y="19878"/>
            <a:ext cx="7772400" cy="3309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Metodologia</a:t>
            </a:r>
            <a:r>
              <a:rPr lang="en-US" sz="24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de </a:t>
            </a:r>
            <a:r>
              <a:rPr lang="en-US" sz="2400" b="1" dirty="0" err="1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Ensino</a:t>
            </a:r>
            <a:endParaRPr lang="en-US" sz="2400" dirty="0"/>
          </a:p>
          <a:p>
            <a:pPr lvl="1">
              <a:lnSpc>
                <a:spcPct val="110000"/>
              </a:lnSpc>
            </a:pPr>
            <a:endParaRPr lang="en-US" sz="2400" b="1" dirty="0">
              <a:solidFill>
                <a:srgbClr val="0147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/>
              <a:t>Aulas expositivas mostrando os conceitos e códigos relacionados.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/>
              <a:t>Aulas práticas em laboratório para fixação da aprendizagem.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/>
              <a:t>Os projetos de um Site e um </a:t>
            </a:r>
            <a:r>
              <a:rPr lang="pt-BR" dirty="0" err="1"/>
              <a:t>App</a:t>
            </a:r>
            <a:r>
              <a:rPr lang="pt-BR" dirty="0"/>
              <a:t> serão desenvolvidos ao longo do semestre contemplando todo o conteúdo e sendo acompanhado pelo professor.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/>
              <a:t>Resolução de problemas sobre a temática sendo abordada, em grupo ou individualmente</a:t>
            </a:r>
            <a:endParaRPr lang="en-US" sz="16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061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" cy="3200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85800" y="19878"/>
            <a:ext cx="7772400" cy="3309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Metodologia</a:t>
            </a:r>
            <a:r>
              <a:rPr lang="en-US" sz="24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de </a:t>
            </a:r>
            <a:r>
              <a:rPr lang="en-US" sz="2400" b="1" dirty="0" err="1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Avaliação</a:t>
            </a:r>
            <a:endParaRPr lang="en-US" sz="2400" dirty="0"/>
          </a:p>
          <a:p>
            <a:pPr lvl="1">
              <a:lnSpc>
                <a:spcPct val="110000"/>
              </a:lnSpc>
            </a:pPr>
            <a:endParaRPr lang="en-US" sz="2400" b="1" dirty="0">
              <a:solidFill>
                <a:srgbClr val="0147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/>
              <a:t>Disciplina de avaliação processual.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/>
              <a:t>A avaliação acontecerá ao longo do semestre, através do acompanhamento, por parte do professor, do desenvolvimento dos projetos propostos.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/>
              <a:t>Os projetos desenvolvidos deverão contemplar todo o conteúdo abordado na disciplina.</a:t>
            </a:r>
            <a:endParaRPr lang="en-US" sz="16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9070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" cy="3200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85800" y="19878"/>
            <a:ext cx="7772400" cy="3309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Conteúdo</a:t>
            </a:r>
            <a:r>
              <a:rPr lang="en-US" sz="2400" b="1" dirty="0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Programático</a:t>
            </a:r>
            <a:endParaRPr lang="en-US" sz="2400" dirty="0"/>
          </a:p>
          <a:p>
            <a:pPr lvl="1">
              <a:lnSpc>
                <a:spcPct val="110000"/>
              </a:lnSpc>
            </a:pPr>
            <a:endParaRPr lang="en-US" sz="2400" b="1" dirty="0">
              <a:solidFill>
                <a:srgbClr val="0147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 err="1"/>
              <a:t>Html</a:t>
            </a:r>
            <a:endParaRPr lang="pt-BR" dirty="0"/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pt-BR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5880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3152" cy="3200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85800" y="909099"/>
            <a:ext cx="7772400" cy="2706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>
                <a:solidFill>
                  <a:srgbClr val="0147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Bibliografia</a:t>
            </a:r>
            <a:endParaRPr lang="en-US" sz="2400" dirty="0"/>
          </a:p>
          <a:p>
            <a:pPr lvl="1">
              <a:lnSpc>
                <a:spcPct val="110000"/>
              </a:lnSpc>
            </a:pPr>
            <a:endParaRPr lang="en-US" sz="2400" b="1" dirty="0">
              <a:solidFill>
                <a:srgbClr val="0147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b="1" dirty="0"/>
              <a:t>Básica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pt-BR" sz="1200" dirty="0"/>
              <a:t>ALVES, William Pereira. Desenvolvimento e design de sites. São Paulo: Erica, 2014. (recurso online)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pt-BR" sz="1200" dirty="0"/>
              <a:t>DEITEL, Paul; DEITEL, Harvey; WALD, A. </a:t>
            </a:r>
            <a:r>
              <a:rPr lang="pt-BR" sz="1200" dirty="0" err="1"/>
              <a:t>Android</a:t>
            </a:r>
            <a:r>
              <a:rPr lang="pt-BR" sz="1200" dirty="0"/>
              <a:t> 6 para programadores: uma abordagem baseada em aplicativos. 3. ed. São Paulo: </a:t>
            </a:r>
            <a:r>
              <a:rPr lang="pt-BR" sz="1200" dirty="0" err="1"/>
              <a:t>Bookman</a:t>
            </a:r>
            <a:r>
              <a:rPr lang="pt-BR" sz="1200" dirty="0"/>
              <a:t>, 2016. (recurso online)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pt-BR" sz="1200" dirty="0"/>
              <a:t>MILETTO, Evandro Manara. Desenvolvimento de software II: introdução ao desenvolvimento web com </a:t>
            </a:r>
            <a:r>
              <a:rPr lang="pt-BR" sz="1200" dirty="0" err="1"/>
              <a:t>html</a:t>
            </a:r>
            <a:r>
              <a:rPr lang="pt-BR" sz="1200" dirty="0"/>
              <a:t>, </a:t>
            </a:r>
            <a:r>
              <a:rPr lang="pt-BR" sz="1200" dirty="0" err="1"/>
              <a:t>css</a:t>
            </a:r>
            <a:r>
              <a:rPr lang="pt-BR" sz="1200" dirty="0"/>
              <a:t>, </a:t>
            </a:r>
            <a:r>
              <a:rPr lang="pt-BR" sz="1200" dirty="0" err="1"/>
              <a:t>javascript</a:t>
            </a:r>
            <a:r>
              <a:rPr lang="pt-BR" sz="1200" dirty="0"/>
              <a:t> e </a:t>
            </a:r>
            <a:r>
              <a:rPr lang="pt-BR" sz="1200" dirty="0" err="1"/>
              <a:t>php</a:t>
            </a:r>
            <a:r>
              <a:rPr lang="pt-BR" sz="1200" dirty="0"/>
              <a:t>. Porto Alegre: </a:t>
            </a:r>
            <a:r>
              <a:rPr lang="pt-BR" sz="1200" dirty="0" err="1"/>
              <a:t>Bookman</a:t>
            </a:r>
            <a:r>
              <a:rPr lang="pt-BR" sz="1200" dirty="0"/>
              <a:t>, 2014. (recurso online)</a:t>
            </a:r>
          </a:p>
          <a:p>
            <a:pPr lvl="1">
              <a:lnSpc>
                <a:spcPct val="110000"/>
              </a:lnSpc>
            </a:pPr>
            <a:endParaRPr lang="pt-BR" sz="1200" dirty="0"/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pt-BR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DUCKETT, Jon.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 com HTML, XHTML e CSS. 2. ed. Rio de Janeiro: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2010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DEITEL, Harvey M. Android: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2. ed. Porto Alegre: Bookman, 2015. (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online)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LECHETA, Ricardo R. Google Android: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móveis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o Android SDK. 5. ed. rev.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., [1.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2016]. São Paulo: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Novatec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2015.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LEWIS, Joseph R; MOSCOVITZ,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Meitar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CSS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avançado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São Paulo: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Novatec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2010.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TERUEL,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Evandro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Carlos. HTML 5: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2. ed. São Paulo: Erica, 2014. (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online).</a:t>
            </a:r>
          </a:p>
        </p:txBody>
      </p:sp>
    </p:spTree>
    <p:extLst>
      <p:ext uri="{BB962C8B-B14F-4D97-AF65-F5344CB8AC3E}">
        <p14:creationId xmlns:p14="http://schemas.microsoft.com/office/powerpoint/2010/main" val="1700495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14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033670"/>
            <a:ext cx="8229600" cy="2532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Dúvidas</a:t>
            </a: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Flávio Dias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570</Words>
  <Application>Microsoft Office PowerPoint</Application>
  <PresentationFormat>Apresentação na tela (16:9)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React</dc:title>
  <dc:subject>PptxGenJS Presentation</dc:subject>
  <dc:creator>Prof. Flávio Dias</dc:creator>
  <cp:lastModifiedBy>Flávio Ricardo Dias de Souza</cp:lastModifiedBy>
  <cp:revision>20</cp:revision>
  <dcterms:created xsi:type="dcterms:W3CDTF">2026-01-30T11:26:18Z</dcterms:created>
  <dcterms:modified xsi:type="dcterms:W3CDTF">2026-02-10T00:27:58Z</dcterms:modified>
</cp:coreProperties>
</file>